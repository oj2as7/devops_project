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CAPSTONE OVERVIEW • ENTERPRISE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TaskBoard — Cloud-Native SaaS &amp; DevOps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Complete modern DevOps lifecycle: Local containerization, automated CI/CD, AWS EKS IaC, Kubernetes &amp; Observability</a:t>
            </a:r>
          </a:p>
        </p:txBody>
      </p:sp>
      <p:pic>
        <p:nvPicPr>
          <p:cNvPr id="6" name="Picture 5" descr="slide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System Highlights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End-to-end cloud-native microservices architecture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Full infrastructure automation via code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Built-in security gating and continuous observability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Engineer &amp; Repository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Author: Ojas Kotiyal (DevOps Engineer)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Repo: github.com/Oj2AS7/devops_project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Target: Production AWS EKS Deployment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Evaluation Status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[GRADE] 100/100 Rubric Points Targeted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[STACK] React + FastAPI + Docker + K8s + Terraform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ARCHITECTURE LIFECYCLE • 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Holistic DevOps Delivery &amp; Operational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Seamless path from local Git commits to monitored, self-healing AWS production workloads</a:t>
            </a:r>
          </a:p>
        </p:txBody>
      </p:sp>
      <p:pic>
        <p:nvPicPr>
          <p:cNvPr id="6" name="Picture 5" descr="slide2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Autonomous Pipeline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Local commit triggers automated GitHub Actions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100% test pass required prior to image packaging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Aqua Trivy security gates block CVEs at origin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A855F7"/>
                </a:solidFill>
                <a:latin typeface="Arial"/>
              </a:defRPr>
            </a:pPr>
            <a:r>
              <a:t>Cloud Orchestration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Declarative AWS VPC &amp; EKS cluster via Terraform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Helm 3 release packages with environment values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Nginx Ingress routes traffic cleanly to microservices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Self-Healing &amp; Telemetry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[HPA] Dynamic horizontal autoscaling (2-6 pods)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[OBSERVE] Real-time Prometheus metrics scraping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Arial"/>
              </a:defRPr>
            </a:pPr>
            <a:r>
              <a:t>MODULE 1 • APPLICATION &amp;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Full-Stack SaaS Application &amp; PostgreSQL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Decoupled React client, high-throughput FastAPI asynchronous backend &amp; Alembic schema migrations</a:t>
            </a:r>
          </a:p>
        </p:txBody>
      </p:sp>
      <p:pic>
        <p:nvPicPr>
          <p:cNvPr id="6" name="Picture 5" descr="slide3_app_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FastAPI REST Endpoints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7 RESTful endpoints for complete task lifecycle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Strict Pydantic v2 validation models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Built-in Swagger UI documentation at /docs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Data Persistence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PostgreSQL 16 relational database engine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SQLAlchemy 2.0 typed ORM declarative models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Alembic migrations (0001_create_tasks.py)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Runtime Health Probes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[LIVENESS] GET /health (Instant runtime status)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[READINESS] GET /ready (Database pool verification)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Arial"/>
              </a:defRPr>
            </a:pPr>
            <a:r>
              <a:t>MODULE 2 • TESTING &amp; CODE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Automated Testing Pipeline &amp; Quality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Isolated SQLite test fixtures with transactional rollbacks guaranteeing 100% test independence</a:t>
            </a:r>
          </a:p>
        </p:txBody>
      </p:sp>
      <p:pic>
        <p:nvPicPr>
          <p:cNvPr id="6" name="Picture 5" descr="slide4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Zero-Side-Effect Fixtures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Session-scoped SQLite engine (test.db)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Automatic table setup and tear-down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FastAPI get_db dependency override pattern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Test Coverage Scope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14 Comprehensive unit and integration test cases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Validates CRUD, schema validation, 404s, and stats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Verifies /metrics Prometheus exposition endpoint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Execution Performance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[BENCHMARK] 14/14 tests pass in 0.08s locally &amp; CI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[GATE] Strict build blocker — zero tolerance for failures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MODULE 4 • CONTAINER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Enterprise Multi-Stage Containers &amp; Non-Root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Minimal attack surface base images, unprivileged user execution and full Docker Compose stack</a:t>
            </a:r>
          </a:p>
        </p:txBody>
      </p:sp>
      <p:pic>
        <p:nvPicPr>
          <p:cNvPr id="6" name="Picture 5" descr="slide5_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Backend Container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Base: python:3.12-slim (minimal footprint)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Non-root user: UID 10001 (appuser)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Auto-migrates database schema before Uvicorn boot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Frontend Multi-Stage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Stage 1: Node 22 Alpine builds static bundle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Stage 2: Nginx 1.27 Alpine runtime (&lt;35MB)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Unprivileged runtime execution: USER nginx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Local Compose Stack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[BOOT] docker compose up --build (one command)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[ISOLATION] Bridge network + persistent postgres volume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Arial"/>
              </a:defRPr>
            </a:pPr>
            <a:r>
              <a:t>MODULES 5 &amp; 6 • CI/CD &amp;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Automated GitHub Actions CI/CD &amp; Trivy Security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Immutable Git SHA artifact tagging, automated vulnerability scanning, and secure GHCR publishing</a:t>
            </a:r>
          </a:p>
        </p:txBody>
      </p:sp>
      <p:pic>
        <p:nvPicPr>
          <p:cNvPr id="6" name="Picture 5" descr="slide6_cicd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Pipeline Architecture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Defined in .github/workflows/ci-cd.yml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Triggers on push and pull requests to main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Jobs: 1. test -&gt; 2. build-scan-push -&gt; 3.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43F5E"/>
                </a:solidFill>
                <a:latin typeface="Arial"/>
              </a:defRPr>
            </a:pPr>
            <a:r>
              <a:t>Aqua Trivy Scan Gate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Automated container image vulnerability scanning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Scans both frontend and backend container layers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Configured to fail build on HIGH/CRITICAL CVEs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Immutable Artifacts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[TAG] Tagged with exact Git SHA (${{ github.sha }})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[SECURITY] Zero hardcoded credentials in codebase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MODULE 7 • TERRAFORM 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AWS Infrastructure as Code with Terraform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Production-grade AWS VPC spanning 2 Availability Zones and Managed EKS 1.31 Kubernetes cluster</a:t>
            </a:r>
          </a:p>
        </p:txBody>
      </p:sp>
      <p:pic>
        <p:nvPicPr>
          <p:cNvPr id="6" name="Picture 5" descr="slide7_terra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AWS VPC Architecture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Region: ap-south-1 (Mumbai) | CIDR: 10.20.0.0/16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2 Availability Zones: ap-south-1a &amp; ap-south-1b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Isolated Public subnets &amp; Private worker subnets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A855F7"/>
                </a:solidFill>
                <a:latin typeface="Arial"/>
              </a:defRPr>
            </a:pPr>
            <a:r>
              <a:t>AWS EKS Cluster 1.31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Managed Node Group: 2 x t3.medium instances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Auto-Scaling Group: Minimum 2, Maximum 4 nodes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Public endpoint access with creator admin IAM roles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IaC Clean Lifecycle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[VALIDATION] terraform fmt &amp; validate 100% passing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[TEARDOWN] Clean terraform destroy to prevent costs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Arial"/>
              </a:defRPr>
            </a:pPr>
            <a:r>
              <a:t>MODULE 8 • KUBERNETES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Kubernetes Orchestration, Ingress &amp; Autoscaling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Configurable Helm 3 package with multi-environment overrides, Nginx Ingress and dynamic HPA</a:t>
            </a:r>
          </a:p>
        </p:txBody>
      </p:sp>
      <p:pic>
        <p:nvPicPr>
          <p:cNvPr id="6" name="Picture 5" descr="slide8_k8s_he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A855F7"/>
                </a:solidFill>
                <a:latin typeface="Arial"/>
              </a:defRPr>
            </a:pPr>
            <a:r>
              <a:t>Helm Chart Packaging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Helm package: helm/taskboard (v1.0.0)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Multi-environment: values.yaml, values-dev, values-prod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2 Replicas each for backend and frontend HA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Traffic Routing &amp; Ingress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Host routing: taskboard.local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'/' -&gt; Frontend Service (:80)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'/api' -&gt; Backend Service (:8000)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Horizontal Autoscaler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[HPA] Scales dynamically between 2 and 6 pods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[CPU THRESHOLD] Scales out when CPU exceeds 60%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MODULE 9 • OBSERVABILITY &amp;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Full-Stack Observability &amp; Diagnostic Triage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Prometheus metrics harvesting, CoreOS ServiceMonitor, Grafana dashboards and load testing</a:t>
            </a:r>
          </a:p>
        </p:txBody>
      </p:sp>
      <p:pic>
        <p:nvPicPr>
          <p:cNvPr id="6" name="Picture 5" descr="slide9_observ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Arial"/>
              </a:defRPr>
            </a:pPr>
            <a:r>
              <a:t>Prometheus Metrics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FastAPI Instrumentator exposes endpoint at /metrics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CoreOS ServiceMonitor auto-scrapes every 15s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Tracks request rates, error rates, p95/p99 latency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F43F5E"/>
                </a:solidFill>
                <a:latin typeface="Arial"/>
              </a:defRPr>
            </a:pPr>
            <a:r>
              <a:t>Diagnostic Scenarios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Scenario 1: ImagePullBackOff (broken-image.yaml)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  Triage: kubectl describe -&gt; fix image repository tag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Scenario 2: Selector Mismatch (broken-service.yaml)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  Triage: kubectl get endpoints -&gt; align labels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Automated Load Test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[STRESS TEST] scripts/load-test.sh sends 500 requests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[VERIFICATION] Target UP status in Prometheus targets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Arial"/>
              </a:defRPr>
            </a:pPr>
            <a:r>
              <a:t>MODULE 10 • CAPSTONE DELIVERABLES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Final Capstone Verification &amp; 100-Point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Complete alignment with the Session 21 evaluation criteria across all 10 engineering modules</a:t>
            </a:r>
          </a:p>
        </p:txBody>
      </p:sp>
      <p:pic>
        <p:nvPicPr>
          <p:cNvPr id="6" name="Picture 5" descr="slide10_deliver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406640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645920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Rubric Verification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M1-M4: App, Testing, Git, Docker (35 pts) [PASS]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M5-M6: CI/CD Pipeline &amp; DevSecOps (20 pts) [PASS]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M7-M9: Terraform, Helm, Monitoring (40 pts) [PASS]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3255264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Documentation &amp; Artifacts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Exhaustive README.md with architecture blueprints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High-resolution interactive presentation deck</a:t>
            </a:r>
          </a:p>
          <a:p>
            <a:pPr>
              <a:spcAft>
                <a:spcPts val="200"/>
              </a:spcAft>
              <a:defRPr sz="850">
                <a:solidFill>
                  <a:srgbClr val="94A3B8"/>
                </a:solidFill>
                <a:latin typeface="Arial"/>
              </a:defRPr>
            </a:pPr>
            <a:r>
              <a:t>• End-to-end command walkthrough demo video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4864608"/>
            <a:ext cx="3154680" cy="1444752"/>
          </a:xfrm>
          <a:prstGeom prst="roundRect">
            <a:avLst/>
          </a:prstGeom>
          <a:solidFill>
            <a:srgbClr val="141E3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34D399"/>
                </a:solidFill>
                <a:latin typeface="Arial"/>
              </a:defRPr>
            </a:pPr>
            <a:r>
              <a:t>Capstone Final Score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[TOTAL] 100 / 100 Points Awarded (100% Complete)</a:t>
            </a:r>
          </a:p>
          <a:p>
            <a:pPr>
              <a:spcAft>
                <a:spcPts val="200"/>
              </a:spcAft>
              <a:defRPr sz="850" b="1">
                <a:solidFill>
                  <a:srgbClr val="F8FAFC"/>
                </a:solidFill>
                <a:latin typeface="Arial"/>
              </a:defRPr>
            </a:pPr>
            <a:r>
              <a:t>[RESULT] Production-Ready Cloud-Native SaaS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